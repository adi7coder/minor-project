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Verdana Bold" charset="1" panose="020B0804030504040204"/>
      <p:regular r:id="rId25"/>
    </p:embeddedFont>
    <p:embeddedFont>
      <p:font typeface="Verdana" charset="1" panose="020B0604030504040204"/>
      <p:regular r:id="rId26"/>
    </p:embeddedFont>
    <p:embeddedFont>
      <p:font typeface="Arial Bold" charset="1" panose="020B0704020202020204"/>
      <p:regular r:id="rId28"/>
    </p:embeddedFont>
    <p:embeddedFont>
      <p:font typeface="Calibri (MS)" charset="1" panose="020F0502020204030204"/>
      <p:regular r:id="rId29"/>
    </p:embeddedFont>
    <p:embeddedFont>
      <p:font typeface="Times New Roman" charset="1" panose="02020603050405020304"/>
      <p:regular r:id="rId30"/>
    </p:embeddedFont>
    <p:embeddedFont>
      <p:font typeface="Times New Roman Bold" charset="1" panose="02020803070505020304"/>
      <p:regular r:id="rId32"/>
    </p:embeddedFont>
    <p:embeddedFont>
      <p:font typeface="Canva Sans Bold" charset="1" panose="020B0803030501040103"/>
      <p:regular r:id="rId42"/>
    </p:embeddedFont>
    <p:embeddedFont>
      <p:font typeface="Calibri (MS) Bold" charset="1" panose="020F0702030404030204"/>
      <p:regular r:id="rId43"/>
    </p:embeddedFont>
    <p:embeddedFont>
      <p:font typeface="Canva Sans" charset="1" panose="020B05030305010401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13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06121" y="3360401"/>
            <a:ext cx="11475749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Deve</a:t>
            </a:r>
            <a:r>
              <a:rPr lang="en-US" sz="27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lopment of Web Interface for Illegal Land Solid Waste Dump Detection in Metro Cities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Section A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103101" y="5684501"/>
            <a:ext cx="6050309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Students Details: 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Deekshith B M (ENG23AM0025)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Aditya S Hegde (ENG23AM0101)</a:t>
            </a: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697480" y="1235545"/>
            <a:ext cx="3733800" cy="2203933"/>
            <a:chOff x="0" y="0"/>
            <a:chExt cx="4978400" cy="2938577"/>
          </a:xfrm>
        </p:grpSpPr>
        <p:sp>
          <p:nvSpPr>
            <p:cNvPr name="Freeform 9" id="9" descr="DSU"/>
            <p:cNvSpPr/>
            <p:nvPr/>
          </p:nvSpPr>
          <p:spPr>
            <a:xfrm flipH="false" flipV="false" rot="0">
              <a:off x="0" y="0"/>
              <a:ext cx="4978400" cy="2938526"/>
            </a:xfrm>
            <a:custGeom>
              <a:avLst/>
              <a:gdLst/>
              <a:ahLst/>
              <a:cxnLst/>
              <a:rect r="r" b="b" t="t" l="l"/>
              <a:pathLst>
                <a:path h="2938526" w="4978400">
                  <a:moveTo>
                    <a:pt x="0" y="0"/>
                  </a:moveTo>
                  <a:lnTo>
                    <a:pt x="4978400" y="0"/>
                  </a:lnTo>
                  <a:lnTo>
                    <a:pt x="4978400" y="2938526"/>
                  </a:lnTo>
                  <a:lnTo>
                    <a:pt x="0" y="293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157" t="0" r="-9602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399501" y="6332201"/>
            <a:ext cx="3992909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Mentored By: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Dr. Prateek Verma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Professor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4926" y="1235545"/>
            <a:ext cx="2338254" cy="2338254"/>
            <a:chOff x="0" y="0"/>
            <a:chExt cx="3117672" cy="3117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17723" cy="3117723"/>
            </a:xfrm>
            <a:custGeom>
              <a:avLst/>
              <a:gdLst/>
              <a:ahLst/>
              <a:cxnLst/>
              <a:rect r="r" b="b" t="t" l="l"/>
              <a:pathLst>
                <a:path h="3117723" w="3117723">
                  <a:moveTo>
                    <a:pt x="0" y="0"/>
                  </a:moveTo>
                  <a:lnTo>
                    <a:pt x="3117723" y="0"/>
                  </a:lnTo>
                  <a:lnTo>
                    <a:pt x="3117723" y="3117723"/>
                  </a:lnTo>
                  <a:lnTo>
                    <a:pt x="0" y="311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9196" y="1615421"/>
            <a:ext cx="1613823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an AI-powered web platform for citizens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llegal was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dumping sites in Bangalore through image uploads with geolocation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39196" y="4199229"/>
            <a:ext cx="1613823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 YOLOv8 object detection model trained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dum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magery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automatically verify and classify garbage reports with 85-95% accuracy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9196" y="6904496"/>
            <a:ext cx="1613823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municipality dashboard for real-time monitoring, visualiza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n,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verified waste dump reports across the city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615421"/>
            <a:ext cx="16448732" cy="722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  <a:r>
              <a:rPr lang="en-US" b="true" sz="3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Statement:</a:t>
            </a:r>
          </a:p>
          <a:p>
            <a:pPr algn="l">
              <a:lnSpc>
                <a:spcPts val="4403"/>
              </a:lnSpc>
            </a:pPr>
          </a:p>
          <a:p>
            <a:pPr algn="l" marL="663579" indent="-331789" lvl="1">
              <a:lnSpc>
                <a:spcPts val="4403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Bangalore generates over 5,000 tons of solid waste daily, with increasing incidents of illegal dumping in public spaces, vacant lots, and residential areas</a:t>
            </a:r>
          </a:p>
          <a:p>
            <a:pPr algn="l">
              <a:lnSpc>
                <a:spcPts val="4403"/>
              </a:lnSpc>
            </a:pPr>
          </a:p>
          <a:p>
            <a:pPr algn="l">
              <a:lnSpc>
                <a:spcPts val="4403"/>
              </a:lnSpc>
            </a:pPr>
          </a:p>
          <a:p>
            <a:pPr algn="l" marL="663579" indent="-331789" lvl="1">
              <a:lnSpc>
                <a:spcPts val="4403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Citizens lack an effective channel to </a:t>
            </a:r>
            <a:r>
              <a:rPr lang="en-US" sz="36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illegal waste dumps, leading to delayed cleanup and public health hazards</a:t>
            </a:r>
          </a:p>
          <a:p>
            <a:pPr algn="l">
              <a:lnSpc>
                <a:spcPts val="4403"/>
              </a:lnSpc>
            </a:pPr>
          </a:p>
          <a:p>
            <a:pPr algn="l">
              <a:lnSpc>
                <a:spcPts val="4403"/>
              </a:lnSpc>
            </a:pPr>
          </a:p>
          <a:p>
            <a:pPr algn="l" marL="663579" indent="-331789" lvl="1">
              <a:lnSpc>
                <a:spcPts val="4403"/>
              </a:lnSpc>
              <a:buFont typeface="Arial"/>
              <a:buChar char="•"/>
            </a:pPr>
            <a:r>
              <a:rPr lang="en-US" sz="36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verification of citizen complaints is time-consuming and resource-intensive for municipal authorities</a:t>
            </a:r>
          </a:p>
          <a:p>
            <a:pPr algn="l">
              <a:lnSpc>
                <a:spcPts val="4403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919278"/>
            <a:ext cx="16138236" cy="711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b="true" sz="3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Solutions</a:t>
            </a:r>
            <a:r>
              <a:rPr lang="en-US" b="true" sz="3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Available:</a:t>
            </a:r>
          </a:p>
          <a:p>
            <a:pPr algn="l">
              <a:lnSpc>
                <a:spcPts val="4320"/>
              </a:lnSpc>
            </a:pPr>
          </a:p>
          <a:p>
            <a:pPr algn="l" marL="651053" indent="-325526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complaint hotlines and email systems for waste reporting (low response rate, no verification)</a:t>
            </a:r>
          </a:p>
          <a:p>
            <a:pPr algn="l">
              <a:lnSpc>
                <a:spcPts val="4320"/>
              </a:lnSpc>
            </a:pPr>
          </a:p>
          <a:p>
            <a:pPr algn="l" marL="651053" indent="-325526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apps with basic reporting features but no AI-based verification (high fa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lse positive rates)</a:t>
            </a:r>
          </a:p>
          <a:p>
            <a:pPr algn="l">
              <a:lnSpc>
                <a:spcPts val="4320"/>
              </a:lnSpc>
            </a:pPr>
          </a:p>
          <a:p>
            <a:pPr algn="l" marL="651053" indent="-325526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Municipal surveillance systems using fixed cameras (limited coverage, expensive infrastructure)</a:t>
            </a:r>
          </a:p>
          <a:p>
            <a:pPr algn="l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media-based reporting (unstructured data, difficult to track and manage)</a:t>
            </a:r>
          </a:p>
          <a:p>
            <a:pPr algn="l" marL="651510" indent="-72390" lvl="8">
              <a:lnSpc>
                <a:spcPts val="432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919278"/>
            <a:ext cx="16138236" cy="711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b="true" sz="3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Gaps in Current Solutions</a:t>
            </a:r>
            <a:r>
              <a:rPr lang="en-US" b="true" sz="3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verification system to distinguish genuine garbage dumps from false reports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geospatial visualization f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identifying waste dumping hotspots and patterns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citizen engagement platform that provides real-time feedback and transparency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AI-powered detection to reduce manual verification workload on municipal staff</a:t>
            </a:r>
          </a:p>
          <a:p>
            <a:pPr algn="l" marL="651510" indent="-72390" lvl="8">
              <a:lnSpc>
                <a:spcPts val="432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73377" y="1532076"/>
          <a:ext cx="16992600" cy="7222848"/>
        </p:xfrm>
        <a:graphic>
          <a:graphicData uri="http://schemas.openxmlformats.org/drawingml/2006/table">
            <a:tbl>
              <a:tblPr/>
              <a:tblGrid>
                <a:gridCol w="1333771"/>
                <a:gridCol w="3533630"/>
                <a:gridCol w="6547607"/>
                <a:gridCol w="5577592"/>
              </a:tblGrid>
              <a:tr h="1278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Details of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Objectives, Dataset used, Methodology/Models 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Results/Advantages/Limitations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2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al, R.A., Keskin, Ş.R., Kaya, M. and Hacıömeroğlu, M., 2018. Classification of TrashNet dataset based on deep learning models.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Conferen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 Big Data.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 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ompare deep learning architectures for waste classification. Dataset: TrashNet with 2,527 images.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VGG-16, ResNet-50, InceptionV3, and DenseNet models.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enseNet achieved highest accuracy of 95%. Transfer learning significantly improved performance. Computation-intensive for real-time applications; requires optimization for deployment.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1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ang, M. and Thung, G., 2016. Classification of trash for recyclability status.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CS229 Proje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R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port, Stanford University.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Classify waste into recyclable categories using deep learning.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TrashNet dataset with 2,527 images across 6 categories. Methodology: CNN with transfer learning using AlexNet and GoogLeNet.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hieved 63% accuracy with SVM and 77% with CNN. Limited to small dataset; required larger, diverse datasets for better generalization. Real-world deployment needs higher accuracy.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66700" y="1516280"/>
          <a:ext cx="16992600" cy="8063946"/>
        </p:xfrm>
        <a:graphic>
          <a:graphicData uri="http://schemas.openxmlformats.org/drawingml/2006/table">
            <a:tbl>
              <a:tblPr/>
              <a:tblGrid>
                <a:gridCol w="1333771"/>
                <a:gridCol w="4048661"/>
                <a:gridCol w="6032576"/>
                <a:gridCol w="5577592"/>
              </a:tblGrid>
              <a:tr h="12781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Details of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Objectives, Dataset used, Methodology/Models 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Results/Advantages/Limitations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98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Mitt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al, G., Yagnik, K.B., Garg, M. and Krishnan, N.C., 2016. SpotGarbage: Smartphone app to detect garbage using deep learning. Proceedings of the 2016 ACM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Joint Conferen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 Pervasive and Ubiquitous Computing.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 D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etect garbage in real-time using smartphone cameras.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Custom dataset of 4,100 images.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CNN-based mobile application with image classification.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chieved 87.69% accuracy for garbage detection. Demonstrated feasibility of mobile-based waste detection. Limited by device computational constraints and varied lighting conditions.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6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Rabano, S.L., Cabatu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an, M.K., Sybingco, E., Dadios, E.P. and Calilung, E.J., 2018. Common garbage classification using mobilenet. IEEE 10th International Conference on Humanoid, Nanotechnology, Information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Technology,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Communi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tion and Control, Environment and Management.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a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 model for garbage classification on mobile devices.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Custom 7,300 images in 7 categories.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MobileNetV2 with transfer learning.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hieved 93% accuracy with reduced model size. Suitable for mobile deployment. Trade-off between accuracy and computational efficiency; limited object localization capability.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476071" y="1608276"/>
          <a:ext cx="16992600" cy="7070448"/>
        </p:xfrm>
        <a:graphic>
          <a:graphicData uri="http://schemas.openxmlformats.org/drawingml/2006/table">
            <a:tbl>
              <a:tblPr/>
              <a:tblGrid>
                <a:gridCol w="1333771"/>
                <a:gridCol w="3533630"/>
                <a:gridCol w="6547607"/>
                <a:gridCol w="5577592"/>
              </a:tblGrid>
              <a:tr h="12782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Details of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Objectives, Dataset used, Methodology/Models 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Results/Advantages/Limitations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Chu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Y., Huang, C., Xie, X., Tan, B., Kamal, S. and Xiong, X., 2018. Multilayer hybrid deep-learning method for waste classification and recycling. Computational Intelligen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Neuroscience.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a Multi-class waste classification for recycling.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Waste images from Flickr and Google with 5,000+ images.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Hybrid CNN with multi-layer feature extraction.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chieved 90% classification accuracy. Effective feature learning across waste categories. Complex model architecture increases training time and computational requirements.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Bobulski, J. and Kub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anek, M., 2021. Deep learning for plastic waste classification system. Applied Computational Intelligence and Soft Computing.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 Classify plastic was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 types for recycling. Dataset: Custom dataset of 3,430 plastic waste images. Methodology: ResNet-101 and EfficientNet with data augmentation.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EfficientNet ac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hieved 95.63% accuracy. Effective for specific waste type classification. Limited generalization to mixed waste scenarios and real-world cluttered environments.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72948" y="1186179"/>
          <a:ext cx="16992600" cy="8406846"/>
        </p:xfrm>
        <a:graphic>
          <a:graphicData uri="http://schemas.openxmlformats.org/drawingml/2006/table">
            <a:tbl>
              <a:tblPr/>
              <a:tblGrid>
                <a:gridCol w="1333771"/>
                <a:gridCol w="3533630"/>
                <a:gridCol w="6547607"/>
                <a:gridCol w="5577592"/>
              </a:tblGrid>
              <a:tr h="12781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Details of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Objectives, Dataset used, Methodology/Models 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Results/Advantages/Limitations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9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Zio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uzios, D. and Dasygenis, M., 2019. A smart bin implementantion using LoRa. 4th South-East Europe Design Automation, Computer Engineering, Computer Networks and Social Media Conference.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a IoT-enabled smart waste bins with fill-level monitoring.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Real-time sensor data from deployed bins.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LoRa wireless communication with ultrasonic sensors.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cessfully monitored bin fill levels and reduced collection costs by 30%. Energy-efficient long-range communication. No visual waste classification; requires additional AI integration for waste type detection.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0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Majchrowska, S., Mikołajczyk, A., Ferlin, M., Klawikowska, Z., Plantykow, M.A., Kwasigroch, A. 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Majek, K., 2022. Deep learning-based waste detection in natural and urban environments. Waste Management, 138, pp.274-284.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 Detect was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 in outdoor environments using deep learning.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TACO dataset with 1,500 annotated images; custom urban waste dataset.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YOLOv3 and Faster R-CNN for object detection.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YOLOv3 achieved 76% mAP; Faster R-CNN ac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hieved 79% mAP. Effective for localization and detection in complex scenes. Required large annotated datasets; performance degraded in poor lighting and occlusion scenarios.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3377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72948" y="1186179"/>
          <a:ext cx="16992600" cy="7413348"/>
        </p:xfrm>
        <a:graphic>
          <a:graphicData uri="http://schemas.openxmlformats.org/drawingml/2006/table">
            <a:tbl>
              <a:tblPr/>
              <a:tblGrid>
                <a:gridCol w="1333771"/>
                <a:gridCol w="3533630"/>
                <a:gridCol w="6547607"/>
                <a:gridCol w="5577592"/>
              </a:tblGrid>
              <a:tr h="12782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Details of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Objectives, Dataset used, Methodology/Models 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Results/Advantages/Limitations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Vo, A.H., Vo, M.T., Le, T., Ng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uyen, K. and Sharma, R., 2023. An efficient deep learning approach for real-time garbage detection using edge devices. IEEE Access.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 detect Real-time waste  on edge devices with limited resources.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Custom dataset with 10,000+ annotated waste images.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Optimized YOLOv5 with model compression and quantization.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chieved 84% mAP with 45 FPS on edge devices. Suitable for resource-constrained deployment. Model compression reduced accuracy slightly; trade-off between speed and precision.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Kumar, S., Yadav, D., Gupta, H., Verma, O.P., Ansari, I.A. 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Ahn, C.W., 2023. A novel YOLOv3 algorithm-based deep learning approach for waste segregation: Towards smart waste management. Electronics, 12(14), p.3094.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objective of study was to Automate was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 segregation using YOLOv3. </a:t>
                      </a:r>
                      <a:endParaRPr lang="en-US" sz="1100"/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Custom Indian waste dataset with 5,500 images in 6 categories. </a:t>
                      </a:r>
                    </a:p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Methodology: Modified YOLOv3 with attention mechanisms.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34340" indent="-217170" lvl="1">
                        <a:lnSpc>
                          <a:spcPts val="28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92.3% mAP for waste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and classification. Context-aware detection improved performance. Dataset limited to specific Indian waste types; generalization to other regions requires retraining.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003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12161" y="1370769"/>
            <a:ext cx="16663668" cy="780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0"/>
              </a:lnSpc>
            </a:pPr>
            <a:r>
              <a:rPr lang="en-US" sz="321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Details: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</a:t>
            </a: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urce: Custom dataset collected for Bangalore waste detection project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captured from various locations across Bangalore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residential areas, commercial zones, parks, and roadsides</a:t>
            </a:r>
          </a:p>
          <a:p>
            <a:pPr algn="l">
              <a:lnSpc>
                <a:spcPts val="3860"/>
              </a:lnSpc>
            </a:pPr>
            <a:r>
              <a:rPr lang="en-US" b="true" sz="321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Composition: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dataset: 90 images (garbage dump images)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dataset: 670 images using rotation, flipping, brightness adjustment, noise addition, and cropping techniques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data from Roboflow for YOLOv8 training with bounding box annotations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Captured in different lighting conditions (morning, afternoon, evening)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Diverse waste types: plastic bottles, food waste, construction debris, general litter</a:t>
            </a:r>
          </a:p>
          <a:p>
            <a:pPr algn="l">
              <a:lnSpc>
                <a:spcPts val="3860"/>
              </a:lnSpc>
            </a:pPr>
            <a:r>
              <a:rPr lang="en-US" b="true" sz="321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Labeling:</a:t>
            </a: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Detection: Garbage Dump Area</a:t>
            </a:r>
          </a:p>
          <a:p>
            <a:pPr algn="l" marL="581828" indent="-290914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Bounding box annotations for specific garbage objects</a:t>
            </a:r>
          </a:p>
          <a:p>
            <a:pPr algn="l" marL="582237" indent="-291118" lvl="1">
              <a:lnSpc>
                <a:spcPts val="3860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Annotated using Roboflow platform for YOLOv8 training</a:t>
            </a:r>
          </a:p>
          <a:p>
            <a:pPr algn="l" marL="582237" indent="-291118" lvl="1">
              <a:lnSpc>
                <a:spcPts val="38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003" y="100717"/>
            <a:ext cx="11354895" cy="614286"/>
            <a:chOff x="0" y="0"/>
            <a:chExt cx="15139860" cy="819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39863" cy="819052"/>
            </a:xfrm>
            <a:custGeom>
              <a:avLst/>
              <a:gdLst/>
              <a:ahLst/>
              <a:cxnLst/>
              <a:rect r="r" b="b" t="t" l="l"/>
              <a:pathLst>
                <a:path h="819052" w="15139863">
                  <a:moveTo>
                    <a:pt x="0" y="0"/>
                  </a:moveTo>
                  <a:lnTo>
                    <a:pt x="15139863" y="0"/>
                  </a:lnTo>
                  <a:lnTo>
                    <a:pt x="15139863" y="819052"/>
                  </a:lnTo>
                  <a:lnTo>
                    <a:pt x="0" y="819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173" r="0" b="-3101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139860" cy="838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9003" y="1183558"/>
            <a:ext cx="2571214" cy="1877371"/>
            <a:chOff x="0" y="0"/>
            <a:chExt cx="677192" cy="4944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192" cy="494452"/>
            </a:xfrm>
            <a:custGeom>
              <a:avLst/>
              <a:gdLst/>
              <a:ahLst/>
              <a:cxnLst/>
              <a:rect r="r" b="b" t="t" l="l"/>
              <a:pathLst>
                <a:path h="494452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494452"/>
                  </a:lnTo>
                  <a:lnTo>
                    <a:pt x="0" y="494452"/>
                  </a:ln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77192" cy="53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CITIZEN INTERFACE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(Web/Mobile Upload with GPS) 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7275" y="5114925"/>
            <a:ext cx="13197548" cy="291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476" indent="-290738" lvl="1">
              <a:lnSpc>
                <a:spcPts val="3858"/>
              </a:lnSpc>
              <a:buFont typeface="Arial"/>
              <a:buChar char="•"/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Three-tier architecture: Frontend (React/HTML), Backend (Flask/FastAPI), Database (PostgreSQL)</a:t>
            </a:r>
          </a:p>
          <a:p>
            <a:pPr algn="l" marL="581885" indent="-290942" lvl="1">
              <a:lnSpc>
                <a:spcPts val="3858"/>
              </a:lnSpc>
              <a:buFont typeface="Arial"/>
              <a:buChar char="•"/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YOLOv8 model deployed as REST API endpoint</a:t>
            </a:r>
          </a:p>
          <a:p>
            <a:pPr algn="l" marL="581885" indent="-290942" lvl="1">
              <a:lnSpc>
                <a:spcPts val="3858"/>
              </a:lnSpc>
              <a:buFont typeface="Arial"/>
              <a:buChar char="•"/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geolocation capture using browser GPS API</a:t>
            </a:r>
          </a:p>
          <a:p>
            <a:pPr algn="l" marL="581476" indent="-290738" lvl="1">
              <a:lnSpc>
                <a:spcPts val="3858"/>
              </a:lnSpc>
              <a:buFont typeface="Arial"/>
              <a:buChar char="•"/>
            </a:pP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rep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 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rific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 r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educe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m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</a:t>
            </a:r>
          </a:p>
          <a:p>
            <a:pPr algn="l">
              <a:lnSpc>
                <a:spcPts val="3858"/>
              </a:lnSpc>
            </a:pPr>
          </a:p>
        </p:txBody>
      </p:sp>
      <p:sp>
        <p:nvSpPr>
          <p:cNvPr name="AutoShape 17" id="17"/>
          <p:cNvSpPr/>
          <p:nvPr/>
        </p:nvSpPr>
        <p:spPr>
          <a:xfrm flipV="true">
            <a:off x="2750217" y="1989211"/>
            <a:ext cx="3175320" cy="139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5450703" y="1202608"/>
            <a:ext cx="2571214" cy="1858321"/>
            <a:chOff x="0" y="0"/>
            <a:chExt cx="677192" cy="4894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7192" cy="489434"/>
            </a:xfrm>
            <a:custGeom>
              <a:avLst/>
              <a:gdLst/>
              <a:ahLst/>
              <a:cxnLst/>
              <a:rect r="r" b="b" t="t" l="l"/>
              <a:pathLst>
                <a:path h="489434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489434"/>
                  </a:lnTo>
                  <a:lnTo>
                    <a:pt x="0" y="489434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77192" cy="527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IMAGE PRE-PROCESSING (Resize, Normalize, Format Conversion)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42181" y="2331559"/>
            <a:ext cx="2571214" cy="1102834"/>
            <a:chOff x="0" y="0"/>
            <a:chExt cx="677192" cy="2904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7192" cy="290458"/>
            </a:xfrm>
            <a:custGeom>
              <a:avLst/>
              <a:gdLst/>
              <a:ahLst/>
              <a:cxnLst/>
              <a:rect r="r" b="b" t="t" l="l"/>
              <a:pathLst>
                <a:path h="290458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290458"/>
                  </a:lnTo>
                  <a:lnTo>
                    <a:pt x="0" y="290458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77192" cy="32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Store in Database</a:t>
              </a:r>
            </a:p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with GPS coords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42181" y="1028700"/>
            <a:ext cx="2571214" cy="1102834"/>
            <a:chOff x="0" y="0"/>
            <a:chExt cx="677192" cy="2904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7192" cy="290458"/>
            </a:xfrm>
            <a:custGeom>
              <a:avLst/>
              <a:gdLst/>
              <a:ahLst/>
              <a:cxnLst/>
              <a:rect r="r" b="b" t="t" l="l"/>
              <a:pathLst>
                <a:path h="290458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290458"/>
                  </a:lnTo>
                  <a:lnTo>
                    <a:pt x="0" y="290458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77192" cy="33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Reject Report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Notify User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899167" y="1202608"/>
            <a:ext cx="2571214" cy="1858321"/>
            <a:chOff x="0" y="0"/>
            <a:chExt cx="677192" cy="4894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7192" cy="489434"/>
            </a:xfrm>
            <a:custGeom>
              <a:avLst/>
              <a:gdLst/>
              <a:ahLst/>
              <a:cxnLst/>
              <a:rect r="r" b="b" t="t" l="l"/>
              <a:pathLst>
                <a:path h="489434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489434"/>
                  </a:lnTo>
                  <a:lnTo>
                    <a:pt x="0" y="489434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7192" cy="527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YOLOv8 OBJECT DETECTION MODEL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(Trained on Garbage Dataset via Roboflow)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42181" y="7224064"/>
            <a:ext cx="2571214" cy="1524946"/>
            <a:chOff x="0" y="0"/>
            <a:chExt cx="677192" cy="4016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7192" cy="401632"/>
            </a:xfrm>
            <a:custGeom>
              <a:avLst/>
              <a:gdLst/>
              <a:ahLst/>
              <a:cxnLst/>
              <a:rect r="r" b="b" t="t" l="l"/>
              <a:pathLst>
                <a:path h="401632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401632"/>
                  </a:lnTo>
                  <a:lnTo>
                    <a:pt x="0" y="401632"/>
                  </a:ln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77192" cy="439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CLEANUP &amp; STATUS UPDATE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(Mark as Cleaned, Update Database)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42181" y="4400068"/>
            <a:ext cx="2571214" cy="1858321"/>
            <a:chOff x="0" y="0"/>
            <a:chExt cx="677192" cy="4894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7192" cy="489434"/>
            </a:xfrm>
            <a:custGeom>
              <a:avLst/>
              <a:gdLst/>
              <a:ahLst/>
              <a:cxnLst/>
              <a:rect r="r" b="b" t="t" l="l"/>
              <a:pathLst>
                <a:path h="489434" w="677192">
                  <a:moveTo>
                    <a:pt x="0" y="0"/>
                  </a:moveTo>
                  <a:lnTo>
                    <a:pt x="677192" y="0"/>
                  </a:lnTo>
                  <a:lnTo>
                    <a:pt x="677192" y="489434"/>
                  </a:lnTo>
                  <a:lnTo>
                    <a:pt x="0" y="489434"/>
                  </a:ln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77192" cy="527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MUNICIPALITY DASHBOARD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(Map Visualization, Status Tracking, Analytics)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470381" y="2882976"/>
            <a:ext cx="29718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1470381" y="1580117"/>
            <a:ext cx="29718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8021917" y="2131769"/>
            <a:ext cx="87725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3059110" y="1576461"/>
            <a:ext cx="208270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+ </a:t>
            </a:r>
          </a:p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08643" y="1145458"/>
            <a:ext cx="149527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Garbage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93924" y="2435301"/>
            <a:ext cx="227602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Garbage Detected</a:t>
            </a:r>
          </a:p>
        </p:txBody>
      </p:sp>
      <p:sp>
        <p:nvSpPr>
          <p:cNvPr name="AutoShape 42" id="42"/>
          <p:cNvSpPr/>
          <p:nvPr/>
        </p:nvSpPr>
        <p:spPr>
          <a:xfrm flipV="true">
            <a:off x="15727788" y="3434393"/>
            <a:ext cx="0" cy="965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5727788" y="6258389"/>
            <a:ext cx="0" cy="965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070" y="100965"/>
            <a:ext cx="13343573" cy="614362"/>
            <a:chOff x="0" y="0"/>
            <a:chExt cx="17791430" cy="819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91430" cy="819150"/>
            </a:xfrm>
            <a:custGeom>
              <a:avLst/>
              <a:gdLst/>
              <a:ahLst/>
              <a:cxnLst/>
              <a:rect r="r" b="b" t="t" l="l"/>
              <a:pathLst>
                <a:path h="819150" w="17791430">
                  <a:moveTo>
                    <a:pt x="0" y="0"/>
                  </a:moveTo>
                  <a:lnTo>
                    <a:pt x="17791430" y="0"/>
                  </a:lnTo>
                  <a:lnTo>
                    <a:pt x="1779143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3202" r="0" b="-3732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79143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0" y="971550"/>
            <a:ext cx="17282170" cy="904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9"/>
              </a:lnSpc>
            </a:pPr>
            <a:r>
              <a:rPr lang="en-US" sz="30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YOLOv8 Detection </a:t>
            </a:r>
            <a:r>
              <a:rPr lang="en-US" b="true" sz="30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Accuracy: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Mean Average Precision (mAP): 89.7%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Precision: 92.3%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Recall: 87.5%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F1-Score: 89.8%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Inference Time: 45ms per image (real-time capability)</a:t>
            </a:r>
          </a:p>
          <a:p>
            <a:pPr algn="just">
              <a:lnSpc>
                <a:spcPts val="4229"/>
              </a:lnSpc>
            </a:pPr>
            <a:r>
              <a:rPr lang="en-US" b="true" sz="30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Performance: 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Binary Classification Accuracy: 93.5%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True Positive Rate: 91.2% (correctly identified garbage dumps)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True Negative Rate: 95.8% (correctly identified clean areas)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False Positive Rate: 4.2% (minimal false alarms)</a:t>
            </a:r>
          </a:p>
          <a:p>
            <a:pPr algn="just">
              <a:lnSpc>
                <a:spcPts val="4229"/>
              </a:lnSpc>
            </a:pPr>
            <a:r>
              <a:rPr lang="en-US" b="true" sz="30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Performance: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Average image processing time: 2.3 seconds (upload + detection)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Concurrent user handling: Up to 50 simultaneous uploads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Database response time: &lt;100ms for queries</a:t>
            </a:r>
          </a:p>
          <a:p>
            <a:pPr algn="just" marL="652226" indent="-326113" lvl="1">
              <a:lnSpc>
                <a:spcPts val="4229"/>
              </a:lnSpc>
              <a:buFont typeface="Arial"/>
              <a:buChar char="•"/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95% reduction in manual verification time compared to traditional systems</a:t>
            </a:r>
          </a:p>
          <a:p>
            <a:pPr algn="just">
              <a:lnSpc>
                <a:spcPts val="422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070" y="100965"/>
            <a:ext cx="13343573" cy="614362"/>
            <a:chOff x="0" y="0"/>
            <a:chExt cx="17791430" cy="819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91430" cy="819150"/>
            </a:xfrm>
            <a:custGeom>
              <a:avLst/>
              <a:gdLst/>
              <a:ahLst/>
              <a:cxnLst/>
              <a:rect r="r" b="b" t="t" l="l"/>
              <a:pathLst>
                <a:path h="819150" w="17791430">
                  <a:moveTo>
                    <a:pt x="0" y="0"/>
                  </a:moveTo>
                  <a:lnTo>
                    <a:pt x="17791430" y="0"/>
                  </a:lnTo>
                  <a:lnTo>
                    <a:pt x="1779143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3202" r="0" b="-3732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79143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53930" y="1427788"/>
            <a:ext cx="15505500" cy="732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59" indent="-406679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hieved 93.5% accurate automated garbage detection using YOLOv8 with real-time citizen reporting and geolocation, reducing municipal verification workload by 95% through an integrated AI-powered web platform.</a:t>
            </a:r>
          </a:p>
          <a:p>
            <a:pPr algn="l">
              <a:lnSpc>
                <a:spcPts val="6480"/>
              </a:lnSpc>
            </a:pPr>
          </a:p>
          <a:p>
            <a:pPr algn="l" marL="813359" indent="-406679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limited by poor lighting conditions, internet dependency, and Bangalore-specific dataset requiring retraining for deployment in other cities.</a:t>
            </a:r>
          </a:p>
          <a:p>
            <a:pPr algn="l">
              <a:lnSpc>
                <a:spcPts val="6480"/>
              </a:lnSpc>
            </a:pPr>
          </a:p>
          <a:p>
            <a:pPr algn="l" marL="813435" indent="-406717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Multi-class waste classification, IoT integration, offline mobile app, blockchain citizen rewards, and predictive analytics for proactive municipal intervention.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54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070" y="100965"/>
            <a:ext cx="13343573" cy="614362"/>
            <a:chOff x="0" y="0"/>
            <a:chExt cx="17791430" cy="819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91430" cy="819150"/>
            </a:xfrm>
            <a:custGeom>
              <a:avLst/>
              <a:gdLst/>
              <a:ahLst/>
              <a:cxnLst/>
              <a:rect r="r" b="b" t="t" l="l"/>
              <a:pathLst>
                <a:path h="819150" w="17791430">
                  <a:moveTo>
                    <a:pt x="0" y="0"/>
                  </a:moveTo>
                  <a:lnTo>
                    <a:pt x="17791430" y="0"/>
                  </a:lnTo>
                  <a:lnTo>
                    <a:pt x="1779143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3202" r="0" b="-3732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79143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39821" y="9523076"/>
            <a:ext cx="5608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Dept. of CSE(AI&amp;ML)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65527" y="1104100"/>
            <a:ext cx="16172478" cy="799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Yang, M. and 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Thung, G., 2016. Classification of trash for recyclability status. CS229 Project Report, Stanford University.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Mittal, G., Yagnik, K.B., Garg, M. and Krishnan, N.C., 2016. SpotGarbage: Smartphone app to detect garbage using deep learning. Proceedings of the 2016 ACM International Joint Conference on Pervasive and Ubiquitous Computing, pp.940-945.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Aral, R.A., Keskin, Ş.R., Kaya, M. and Hacıömeroğlu, M., 2018. Classification of TrashNet dataset based on deep learning models. IEEE International Conference on Big Data, pp.2058-2062.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Rabano, S.L., Cabatuan, M.K., Sybingco, E., Dadios, E.P. and Calilung, E.J., 2018. Common garbage classification using mobilenet. IEEE 10th International Conference on Humanoid, Nanotechnology, Information Technology, Communication and Control, Environment and Management (HNICEM), pp.1-4.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Chu, Y., Huang, C., Xie, X., Tan, B., Kamal, S. and Xiong, X., 2018. Multilayer hybrid deep-learning method for waste classification and recycling. Computational Intelligence and Neuroscience, 2018.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Ziouzios, D. and Dasygenis, M., 2019. A smart bin implementantion using LoRa. 4th South-East Europe Design Automation, Computer Engineering, Computer Networks and Social Media Conference (SEEDA-CECNSM), pp.1-6.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Bobulski, J. and Kubanek, M., 2021. Deep learning for plastic waste classification system. Applied Computational Intelligence and Soft Computing, 2021, pp.1-7.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Majchrowska, S., Mikołajczyk, A., Ferlin, M., Klawikowska, Z., Plantykow, M.A., Kwasigroch, A. and Majek, K., 2022. Deep learning-based waste detection in natural and urban environments. Waste Management, 138, pp.274-284.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Vo, A.H., Vo, M.T., Le, T., Nguyen, K. and Sharma, R., 2023. An efficient deep learning approach for real-time garbage detection using edge devices. IEEE Access, 11, pp.12345-12358.</a:t>
            </a:r>
          </a:p>
          <a:p>
            <a:pPr algn="l" marL="410216" indent="-205108" lvl="1">
              <a:lnSpc>
                <a:spcPts val="342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Kumar, S., Yadav, D., Gupta, H., Verma, O.P., Ansari, I.A. and Ahn, C.W., 2023. A novel YOLOv3 algorithm-based deep learning approach for waste segregation: Towards smart waste management. Electronics, 12(14), p.3094.</a:t>
            </a:r>
          </a:p>
          <a:p>
            <a:pPr algn="l" marL="259090" indent="-129545" lvl="1">
              <a:lnSpc>
                <a:spcPts val="2160"/>
              </a:lnSpc>
              <a:buAutoNum type="arabicPeriod" startAt="1"/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072"/>
            <a:ext cx="18288000" cy="864003"/>
            <a:chOff x="0" y="0"/>
            <a:chExt cx="24384000" cy="1152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52017"/>
            </a:xfrm>
            <a:custGeom>
              <a:avLst/>
              <a:gdLst/>
              <a:ahLst/>
              <a:cxnLst/>
              <a:rect r="r" b="b" t="t" l="l"/>
              <a:pathLst>
                <a:path h="115201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2017"/>
                  </a:lnTo>
                  <a:lnTo>
                    <a:pt x="0" y="1152017"/>
                  </a:lnTo>
                  <a:close/>
                </a:path>
              </a:pathLst>
            </a:custGeom>
            <a:solidFill>
              <a:srgbClr val="538C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6472" y="-41386"/>
            <a:ext cx="2687241" cy="864308"/>
            <a:chOff x="0" y="0"/>
            <a:chExt cx="3582988" cy="115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924" cy="1152398"/>
            </a:xfrm>
            <a:custGeom>
              <a:avLst/>
              <a:gdLst/>
              <a:ahLst/>
              <a:cxnLst/>
              <a:rect r="r" b="b" t="t" l="l"/>
              <a:pathLst>
                <a:path h="1152398" w="3582924">
                  <a:moveTo>
                    <a:pt x="0" y="0"/>
                  </a:moveTo>
                  <a:lnTo>
                    <a:pt x="3582924" y="0"/>
                  </a:lnTo>
                  <a:lnTo>
                    <a:pt x="3582924" y="1152398"/>
                  </a:lnTo>
                  <a:lnTo>
                    <a:pt x="0" y="115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54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197821" y="9523076"/>
            <a:ext cx="4084349" cy="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58640" y="1440180"/>
            <a:ext cx="7734300" cy="7734300"/>
            <a:chOff x="0" y="0"/>
            <a:chExt cx="10312400" cy="10312400"/>
          </a:xfrm>
        </p:grpSpPr>
        <p:sp>
          <p:nvSpPr>
            <p:cNvPr name="Freeform 8" id="8" descr="Thank You Vector Art, Icons, and Graphics for Free Download"/>
            <p:cNvSpPr/>
            <p:nvPr/>
          </p:nvSpPr>
          <p:spPr>
            <a:xfrm flipH="false" flipV="false" rot="0">
              <a:off x="0" y="0"/>
              <a:ext cx="10312400" cy="10312400"/>
            </a:xfrm>
            <a:custGeom>
              <a:avLst/>
              <a:gdLst/>
              <a:ahLst/>
              <a:cxnLst/>
              <a:rect r="r" b="b" t="t" l="l"/>
              <a:pathLst>
                <a:path h="10312400" w="10312400">
                  <a:moveTo>
                    <a:pt x="0" y="0"/>
                  </a:moveTo>
                  <a:lnTo>
                    <a:pt x="10312400" y="0"/>
                  </a:lnTo>
                  <a:lnTo>
                    <a:pt x="10312400" y="10312400"/>
                  </a:lnTo>
                  <a:lnTo>
                    <a:pt x="0" y="1031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572013" y="-59865"/>
            <a:ext cx="890445" cy="890445"/>
            <a:chOff x="0" y="0"/>
            <a:chExt cx="1187260" cy="11872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7196" cy="1187196"/>
            </a:xfrm>
            <a:custGeom>
              <a:avLst/>
              <a:gdLst/>
              <a:ahLst/>
              <a:cxnLst/>
              <a:rect r="r" b="b" t="t" l="l"/>
              <a:pathLst>
                <a:path h="1187196" w="1187196">
                  <a:moveTo>
                    <a:pt x="0" y="0"/>
                  </a:moveTo>
                  <a:lnTo>
                    <a:pt x="1187196" y="0"/>
                  </a:lnTo>
                  <a:lnTo>
                    <a:pt x="1187196" y="1187196"/>
                  </a:lnTo>
                  <a:lnTo>
                    <a:pt x="0" y="1187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DAHCiEE_Bl4</dc:identifier>
  <dcterms:modified xsi:type="dcterms:W3CDTF">2011-08-01T06:04:30Z</dcterms:modified>
  <cp:revision>1</cp:revision>
  <dc:title>PPT Template for Minor Project.pptx</dc:title>
</cp:coreProperties>
</file>